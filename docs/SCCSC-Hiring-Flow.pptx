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briefing shows how the recruitment team will work through the new in-house careers system on sccsc.org instead of managing hiring on Indeed and email.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row: how hiring works today. Bottom row: the new flow. The job still reaches Indeed; what changes is where the applicant applies, and so where the application ends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Indeed and Google copy open jobs from the site's feed; they never hold the original. Applications and résumés are saved only in Supabase, and only signed-in HR admins can open them. Row Level Security blocks anyone who tries to reach the database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HR moves applications forward from the admin area. Applicants see each change in their own portal, so nobody has to email asking for an update.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HR controls where a job appears with a single Visibility setting. Draft is for preparing a posting, Open publishes it everywhere, Closed takes it down everywhere.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site is the source of truth for every posting. Indeed copies from it, so changes made directly on Indeed don't stick.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full weekly loop for the recruitment team. Everything happens in the site's HR admin; Indeed and Google update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Applicant data never leaves the site. Indeed and Google only ever see what's already public: open job postings.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steps take the careers portal from demo to live: connect the database, register the Indeed feed after launch, and set up HR admin accounts.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4747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The Center — Sacramento Chinese Community Service Center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13232"/>
            <a:ext cx="3017520" cy="8046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651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TEAM BRIEFING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10896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hiring works on the </a:t>
            </a:r>
            <a:pPr indent="0" marL="0">
              <a:buNone/>
            </a:pPr>
            <a:r>
              <a:rPr lang="en-US" sz="5000" b="1" dirty="0">
                <a:solidFill>
                  <a:srgbClr val="FF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site</a:t>
            </a:r>
            <a:endParaRPr 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9834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post jobs, collect applications and keep applicants updated. Indeed and Google still bring people in; every application ends up in the Center's own pipeline.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01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BEFORE &amp; AFTER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stop scattering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HIRING THROUGH INDEED AND EMAIL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ECE8E3"/>
          </a:solidFill>
          <a:ln w="15875">
            <a:solidFill>
              <a:srgbClr val="D8D2C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posted on Indeed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77440" y="2400300"/>
            <a:ext cx="480060" cy="0"/>
          </a:xfrm>
          <a:prstGeom prst="line">
            <a:avLst/>
          </a:prstGeom>
          <a:noFill/>
          <a:ln w="19050">
            <a:solidFill>
              <a:srgbClr val="5E6972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2857500" y="196596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ECE8E3"/>
          </a:solidFill>
          <a:ln w="15875">
            <a:solidFill>
              <a:srgbClr val="D8D2C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applies on Indeed or by email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86300" y="2400300"/>
            <a:ext cx="480060" cy="0"/>
          </a:xfrm>
          <a:prstGeom prst="line">
            <a:avLst/>
          </a:prstGeom>
          <a:noFill/>
          <a:ln w="19050">
            <a:solidFill>
              <a:srgbClr val="5E6972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166360" y="196596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ECE8E3"/>
          </a:solidFill>
          <a:ln w="15875">
            <a:solidFill>
              <a:srgbClr val="D8D2C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Résumés land in staff inboxes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95160" y="2400300"/>
            <a:ext cx="480060" cy="0"/>
          </a:xfrm>
          <a:prstGeom prst="line">
            <a:avLst/>
          </a:prstGeom>
          <a:noFill/>
          <a:ln w="19050">
            <a:solidFill>
              <a:srgbClr val="5E6972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7475220" y="196596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ECE8E3"/>
          </a:solidFill>
          <a:ln w="15875">
            <a:solidFill>
              <a:srgbClr val="D8D2C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tracks in email and spreadsheets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304020" y="2400300"/>
            <a:ext cx="480060" cy="0"/>
          </a:xfrm>
          <a:prstGeom prst="line">
            <a:avLst/>
          </a:prstGeom>
          <a:noFill/>
          <a:ln w="19050">
            <a:solidFill>
              <a:srgbClr val="5E6972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9784080" y="196596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FFF3D6"/>
          </a:solidFill>
          <a:ln w="15875">
            <a:solidFill>
              <a:srgbClr val="9A6400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waits, no status updates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520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NEW SITE: EVERYTHING LANDS IN ONE PIPELINE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88620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875">
            <a:solidFill>
              <a:srgbClr val="D8D2C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posts once in the site admin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857500" y="388620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875">
            <a:solidFill>
              <a:srgbClr val="D8D2C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on sccsc.org, Indeed and Google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388620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D0112B"/>
          </a:solidFill>
          <a:ln w="25400">
            <a:solidFill>
              <a:srgbClr val="D0112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applies on sccsc.org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475220" y="388620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875">
            <a:solidFill>
              <a:srgbClr val="D8D2C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pipeline: HR reviews + notes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784080" y="388620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875">
            <a:solidFill>
              <a:srgbClr val="D8D2C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tracks status online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377440" y="4320540"/>
            <a:ext cx="480060" cy="0"/>
          </a:xfrm>
          <a:prstGeom prst="line">
            <a:avLst/>
          </a:prstGeom>
          <a:noFill/>
          <a:ln w="19050">
            <a:solidFill>
              <a:srgbClr val="13202A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1794510" y="4846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9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auto-shared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86300" y="4320540"/>
            <a:ext cx="480060" cy="0"/>
          </a:xfrm>
          <a:prstGeom prst="line">
            <a:avLst/>
          </a:prstGeom>
          <a:noFill/>
          <a:ln w="31750">
            <a:solidFill>
              <a:srgbClr val="D0112B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103370" y="4846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0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“Apply” opens our site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95160" y="4320540"/>
            <a:ext cx="480060" cy="0"/>
          </a:xfrm>
          <a:prstGeom prst="line">
            <a:avLst/>
          </a:prstGeom>
          <a:noFill/>
          <a:ln w="19050">
            <a:solidFill>
              <a:srgbClr val="13202A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6412230" y="4846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9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the database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304020" y="4320540"/>
            <a:ext cx="480060" cy="0"/>
          </a:xfrm>
          <a:prstGeom prst="line">
            <a:avLst/>
          </a:prstGeom>
          <a:noFill/>
          <a:ln w="19050">
            <a:solidFill>
              <a:srgbClr val="13202A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8721090" y="4846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9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arrow is the key change: Indeed's “Apply” button sends people to sccsc.org, so their application joins everyone else's in one pipeline instead of an inbox.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01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HOW DATA MOVES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site touches the database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D8D2C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(phone or computer)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2044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D8D2C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Indeed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 Jobs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25780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D8D2C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staff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(admins)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1417320"/>
            <a:ext cx="4480560" cy="4937760"/>
          </a:xfrm>
          <a:prstGeom prst="roundRect">
            <a:avLst>
              <a:gd name="adj" fmla="val 3061"/>
            </a:avLst>
          </a:prstGeom>
          <a:solidFill>
            <a:srgbClr val="FFFFFF">
              <a:alpha val="0"/>
            </a:srgbClr>
          </a:solidFill>
          <a:ln w="15875">
            <a:solidFill>
              <a:srgbClr val="D8D2CB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3749040" y="1463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E69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sccsc.org · Next.js site on Vercel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178308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D0112B"/>
          </a:solidFill>
          <a:ln w="25400">
            <a:solidFill>
              <a:srgbClr val="D0112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 pages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board · apply form · my applications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352044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D8D2C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feed + Google job 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/jobs.xml · open jobs only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525780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D8D2C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 (sign-in required)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· résumés · job editor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0" y="2743200"/>
            <a:ext cx="2331720" cy="2377440"/>
          </a:xfrm>
          <a:prstGeom prst="roundRect">
            <a:avLst>
              <a:gd name="adj" fmla="val 5882"/>
            </a:avLst>
          </a:prstGeom>
          <a:solidFill>
            <a:srgbClr val="13202A"/>
          </a:solidFill>
          <a:ln>
            <a:solidFill>
              <a:srgbClr val="13202A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database</a:t>
            </a:r>
            <a:endParaRPr lang="en-US" sz="1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· applications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résumés · accounts</a:t>
            </a:r>
            <a:endParaRPr lang="en-US" sz="1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Security: no outside access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560320" y="2011680"/>
            <a:ext cx="1280160" cy="0"/>
          </a:xfrm>
          <a:prstGeom prst="line">
            <a:avLst/>
          </a:prstGeom>
          <a:noFill/>
          <a:ln w="28575">
            <a:solidFill>
              <a:srgbClr val="D0112B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560320" y="1719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0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flipH="1">
            <a:off x="2560320" y="2377440"/>
            <a:ext cx="1280160" cy="0"/>
          </a:xfrm>
          <a:prstGeom prst="line">
            <a:avLst/>
          </a:prstGeom>
          <a:noFill/>
          <a:ln w="19050">
            <a:solidFill>
              <a:srgbClr val="13202A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560320" y="24323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9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status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flipH="1">
            <a:off x="2560320" y="3931920"/>
            <a:ext cx="1280160" cy="0"/>
          </a:xfrm>
          <a:prstGeom prst="line">
            <a:avLst/>
          </a:prstGeom>
          <a:noFill/>
          <a:ln w="19050">
            <a:solidFill>
              <a:srgbClr val="13202A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560320" y="36118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9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data, every few hours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flipV="1">
            <a:off x="1554480" y="2606040"/>
            <a:ext cx="0" cy="914400"/>
          </a:xfrm>
          <a:prstGeom prst="line">
            <a:avLst/>
          </a:prstGeom>
          <a:noFill/>
          <a:ln w="19050">
            <a:solidFill>
              <a:srgbClr val="13202A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1645920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69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“Apply” sends them to our site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0" y="5486400"/>
            <a:ext cx="1280160" cy="0"/>
          </a:xfrm>
          <a:prstGeom prst="line">
            <a:avLst/>
          </a:prstGeom>
          <a:noFill/>
          <a:ln w="19050">
            <a:solidFill>
              <a:srgbClr val="13202A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2560320" y="51937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9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posts, reviews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flipH="1">
            <a:off x="2560320" y="5852160"/>
            <a:ext cx="1280160" cy="0"/>
          </a:xfrm>
          <a:prstGeom prst="line">
            <a:avLst/>
          </a:prstGeom>
          <a:noFill/>
          <a:ln w="19050">
            <a:solidFill>
              <a:srgbClr val="13202A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2560320" y="59070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9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2194560"/>
            <a:ext cx="1554480" cy="914400"/>
          </a:xfrm>
          <a:prstGeom prst="line">
            <a:avLst/>
          </a:prstGeom>
          <a:noFill/>
          <a:ln w="28575">
            <a:solidFill>
              <a:srgbClr val="D0112B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818388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0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applications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 flipH="1">
            <a:off x="7772400" y="3931920"/>
            <a:ext cx="1554480" cy="0"/>
          </a:xfrm>
          <a:prstGeom prst="line">
            <a:avLst/>
          </a:prstGeom>
          <a:noFill/>
          <a:ln w="19050">
            <a:solidFill>
              <a:srgbClr val="13202A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7863840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9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jobs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 flipV="1">
            <a:off x="7772400" y="4754880"/>
            <a:ext cx="1554480" cy="914400"/>
          </a:xfrm>
          <a:prstGeom prst="line">
            <a:avLst/>
          </a:prstGeom>
          <a:noFill/>
          <a:ln w="19050">
            <a:solidFill>
              <a:srgbClr val="13202A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8138160" y="5440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9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+ updates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01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APPLICANT PIPELINE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status that everyone can see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9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moves the application forward at each step →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875">
            <a:solidFill>
              <a:srgbClr val="D0112B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applies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77440" y="2400300"/>
            <a:ext cx="480060" cy="0"/>
          </a:xfrm>
          <a:prstGeom prst="line">
            <a:avLst/>
          </a:prstGeom>
          <a:noFill/>
          <a:ln w="19050">
            <a:solidFill>
              <a:srgbClr val="13202A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2857500" y="196596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875">
            <a:solidFill>
              <a:srgbClr val="D8D2C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reading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86300" y="2400300"/>
            <a:ext cx="480060" cy="0"/>
          </a:xfrm>
          <a:prstGeom prst="line">
            <a:avLst/>
          </a:prstGeom>
          <a:noFill/>
          <a:ln w="19050">
            <a:solidFill>
              <a:srgbClr val="13202A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166360" y="196596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875">
            <a:solidFill>
              <a:srgbClr val="D8D2C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schedules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95160" y="2400300"/>
            <a:ext cx="480060" cy="0"/>
          </a:xfrm>
          <a:prstGeom prst="line">
            <a:avLst/>
          </a:prstGeom>
          <a:noFill/>
          <a:ln w="19050">
            <a:solidFill>
              <a:srgbClr val="13202A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7475220" y="196596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875">
            <a:solidFill>
              <a:srgbClr val="D8D2C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extends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304020" y="2400300"/>
            <a:ext cx="480060" cy="0"/>
          </a:xfrm>
          <a:prstGeom prst="line">
            <a:avLst/>
          </a:prstGeom>
          <a:noFill/>
          <a:ln w="19050">
            <a:solidFill>
              <a:srgbClr val="13202A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9784080" y="196596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D0112B"/>
          </a:solidFill>
          <a:ln w="25400">
            <a:solidFill>
              <a:srgbClr val="D0112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aboard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2834640"/>
            <a:ext cx="0" cy="182880"/>
          </a:xfrm>
          <a:prstGeom prst="line">
            <a:avLst/>
          </a:prstGeom>
          <a:noFill/>
          <a:ln w="15875">
            <a:solidFill>
              <a:srgbClr val="5E697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2834640"/>
            <a:ext cx="0" cy="182880"/>
          </a:xfrm>
          <a:prstGeom prst="line">
            <a:avLst/>
          </a:prstGeom>
          <a:noFill/>
          <a:ln w="15875">
            <a:solidFill>
              <a:srgbClr val="5E697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017520"/>
            <a:ext cx="5897880" cy="0"/>
          </a:xfrm>
          <a:prstGeom prst="line">
            <a:avLst/>
          </a:prstGeom>
          <a:noFill/>
          <a:ln w="15875">
            <a:solidFill>
              <a:srgbClr val="5E697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31820" y="2834640"/>
            <a:ext cx="0" cy="457200"/>
          </a:xfrm>
          <a:prstGeom prst="line">
            <a:avLst/>
          </a:prstGeom>
          <a:noFill/>
          <a:ln w="15875">
            <a:solidFill>
              <a:srgbClr val="5E697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29700" y="2834640"/>
            <a:ext cx="0" cy="457200"/>
          </a:xfrm>
          <a:prstGeom prst="line">
            <a:avLst/>
          </a:prstGeom>
          <a:noFill/>
          <a:ln w="15875">
            <a:solidFill>
              <a:srgbClr val="5E697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31820" y="3291840"/>
            <a:ext cx="5897880" cy="0"/>
          </a:xfrm>
          <a:prstGeom prst="line">
            <a:avLst/>
          </a:prstGeom>
          <a:noFill/>
          <a:ln w="15875">
            <a:solidFill>
              <a:srgbClr val="5E697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37360" y="3017520"/>
            <a:ext cx="0" cy="1325880"/>
          </a:xfrm>
          <a:prstGeom prst="line">
            <a:avLst/>
          </a:prstGeom>
          <a:noFill/>
          <a:ln w="28575">
            <a:solidFill>
              <a:srgbClr val="D0112B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1874520" y="34747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0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can withdraw while it's still open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34340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0112B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applicant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38160" y="3291840"/>
            <a:ext cx="0" cy="1051560"/>
          </a:xfrm>
          <a:prstGeom prst="line">
            <a:avLst/>
          </a:prstGeom>
          <a:noFill/>
          <a:ln w="19050">
            <a:solidFill>
              <a:srgbClr val="13202A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8275320" y="3520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69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can decline at any of these steps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434340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ECE8E3"/>
          </a:solidFill>
          <a:ln w="15875">
            <a:solidFill>
              <a:srgbClr val="D8D2C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selected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80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red outline</a:t>
            </a:r>
            <a:pPr indent="0" marL="0">
              <a:buNone/>
            </a:pPr>
            <a:r>
              <a:rPr lang="en-US" sz="1500" dirty="0">
                <a:solidFill>
                  <a:srgbClr val="3F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applicant action. Everything else is done by HR. Every change is logged (who and when) and shows in the applicant's portal; internal HR notes never do.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01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 JOB'S LIFE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Draft, open, closed: where the job shows up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651760"/>
                <a:gridCol w="2377440"/>
                <a:gridCol w="2011680"/>
                <a:gridCol w="20116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in admin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sccsc.org job board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for Jobs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Takes applications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F4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listed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listed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0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0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0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Listed at next feed read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0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0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F4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stays up, marked closed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at next feed read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4348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with the Visibility option in the job editor. </a:t>
            </a:r>
            <a:pPr indent="0" marL="0">
              <a:buNone/>
            </a:pPr>
            <a:r>
              <a:rPr lang="en-US" sz="1500" dirty="0">
                <a:solidFill>
                  <a:srgbClr val="3F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updates immediately; Indeed and Google follow within a few hours. Volunteer roles stay off Indeed, which doesn't take unpaid postings.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01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RULE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jobs on the site, not on Indeed.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A80D23"/>
          </a:solidFill>
          <a:ln>
            <a:solidFill>
              <a:srgbClr val="A80D23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Indeed re-reads the site's feed every few hours and overwrites changes made in Indeed's dashboard.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343400" y="301752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A80D23"/>
          </a:solidFill>
          <a:ln>
            <a:solidFill>
              <a:srgbClr val="A80D23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removal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job in the site admin. For an immediate effect, also close it on Indeed; the site's version wins at the next read.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301752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A80D23"/>
          </a:solidFill>
          <a:ln>
            <a:solidFill>
              <a:srgbClr val="A80D23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Indeed is still for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Sponsoring posts for more reach, and viewing performance stats.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01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HR'S ROUTINE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recruitment team's routine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D0112B"/>
          </a:solidFill>
          <a:ln>
            <a:solidFill>
              <a:srgbClr val="D011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the job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F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Job postings → New. Add pay (required in California) and set Visibility to Open.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965960"/>
            <a:ext cx="502920" cy="502920"/>
          </a:xfrm>
          <a:prstGeom prst="ellipse">
            <a:avLst/>
          </a:prstGeom>
          <a:solidFill>
            <a:srgbClr val="D0112B"/>
          </a:solidFill>
          <a:ln>
            <a:solidFill>
              <a:srgbClr val="D011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 spread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6060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F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sccsc.org right away; on Indeed and Google within hours. Sponsor on Indeed if needed.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965960"/>
            <a:ext cx="502920" cy="502920"/>
          </a:xfrm>
          <a:prstGeom prst="ellipse">
            <a:avLst/>
          </a:prstGeom>
          <a:solidFill>
            <a:srgbClr val="D0112B"/>
          </a:solidFill>
          <a:ln>
            <a:solidFill>
              <a:srgbClr val="D011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applicants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6060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F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Overview shows new, in-review and interviewing counts. Filter by job or status.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D0112B"/>
          </a:solidFill>
          <a:ln>
            <a:solidFill>
              <a:srgbClr val="D011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206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8463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F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 application, download the résumé, add private notes, move it to In review or Interview.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0" y="393192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4206240"/>
            <a:ext cx="502920" cy="502920"/>
          </a:xfrm>
          <a:prstGeom prst="ellipse">
            <a:avLst/>
          </a:prstGeom>
          <a:solidFill>
            <a:srgbClr val="D0112B"/>
          </a:solidFill>
          <a:ln>
            <a:solidFill>
              <a:srgbClr val="D011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4206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8463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F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Offer, then Hired, or mark Not selected. The applicant sees each update.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046720" y="393192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21040" y="4206240"/>
            <a:ext cx="502920" cy="502920"/>
          </a:xfrm>
          <a:prstGeom prst="ellipse">
            <a:avLst/>
          </a:prstGeom>
          <a:solidFill>
            <a:srgbClr val="D0112B"/>
          </a:solidFill>
          <a:ln>
            <a:solidFill>
              <a:srgbClr val="D011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4206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job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48463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F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role is filled, close it. It comes off the board, Indeed and Google on its own.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01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WHO SEES WHAT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by role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389120"/>
                <a:gridCol w="35661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see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change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visitors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and closed jobs, program pages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Applicants (signed in)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Their own applications, statuses and résumés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Apply; withdraw an open application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admins (signed in)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jobs, applications, résumés and notes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Jobs, statuses and internal notes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Indeed and Google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jobs only, from the public feed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on our side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Anyone going straight to Supabase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Nothing: Row Level Security blocks 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live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731520" cy="731520"/>
          </a:xfrm>
          <a:prstGeom prst="ellipse">
            <a:avLst/>
          </a:prstGeom>
          <a:solidFill>
            <a:srgbClr val="D0112B"/>
          </a:solidFill>
          <a:ln>
            <a:solidFill>
              <a:srgbClr val="D011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7373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Supabase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rgbClr val="C9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database connection and secret in Vercel, then redeploy.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731520" cy="731520"/>
          </a:xfrm>
          <a:prstGeom prst="ellipse">
            <a:avLst/>
          </a:prstGeom>
          <a:solidFill>
            <a:srgbClr val="D0112B"/>
          </a:solidFill>
          <a:ln>
            <a:solidFill>
              <a:srgbClr val="D011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31089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Indeed feed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rgbClr val="C9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launch, give sccsc.org/jobs.xml to Indeed once.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572000"/>
            <a:ext cx="731520" cy="731520"/>
          </a:xfrm>
          <a:prstGeom prst="ellipse">
            <a:avLst/>
          </a:prstGeom>
          <a:solidFill>
            <a:srgbClr val="D0112B"/>
          </a:solidFill>
          <a:ln>
            <a:solidFill>
              <a:srgbClr val="D011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44805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HR team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rgbClr val="C9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admin login for each recruiter and walk through the routine.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Sacramento Chinese Community Service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Center Hiring Flow</dc:title>
  <dc:subject>PptxGenJS Presentation</dc:subject>
  <dc:creator>PptxGenJS</dc:creator>
  <cp:lastModifiedBy>PptxGenJS</cp:lastModifiedBy>
  <cp:revision>1</cp:revision>
  <dcterms:created xsi:type="dcterms:W3CDTF">2026-09-24T21:36:47Z</dcterms:created>
  <dcterms:modified xsi:type="dcterms:W3CDTF">2026-09-24T21:36:47Z</dcterms:modified>
</cp:coreProperties>
</file>